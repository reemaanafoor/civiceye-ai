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1" autoAdjust="0"/>
    <p:restoredTop sz="86424" autoAdjust="0"/>
  </p:normalViewPr>
  <p:slideViewPr>
    <p:cSldViewPr snapToGrid="0" snapToObjects="1">
      <p:cViewPr varScale="1">
        <p:scale>
          <a:sx n="58" d="100"/>
          <a:sy n="58" d="100"/>
        </p:scale>
        <p:origin x="426" y="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914400"/>
            <a:ext cx="4572000" cy="4572000"/>
          </a:xfrm>
          <a:prstGeom prst="ellipse">
            <a:avLst/>
          </a:prstGeom>
          <a:solidFill>
            <a:srgbClr val="E2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188720" y="4937760"/>
            <a:ext cx="3657600" cy="3657600"/>
          </a:xfrm>
          <a:prstGeom prst="ellipse">
            <a:avLst/>
          </a:prstGeom>
          <a:solidFill>
            <a:srgbClr val="DE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0" b="0">
                <a:solidFill>
                  <a:srgbClr val="1B1F32"/>
                </a:solidFill>
                <a:latin typeface="Aptos"/>
              </a:defRPr>
            </a:pPr>
            <a:r>
              <a:t>👁️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078992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1B1F32"/>
                </a:solidFill>
                <a:latin typeface="Aptos"/>
              </a:defRPr>
            </a:pPr>
            <a:r>
              <a:t>CivicEye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874519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5B4CDC"/>
                </a:solidFill>
                <a:latin typeface="Aptos"/>
              </a:defRPr>
            </a:pPr>
            <a:r>
              <a:t>Smart AI Solution for a Cleaner Sri Lanka 🇱🇰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468880"/>
            <a:ext cx="6400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646A7D"/>
                </a:solidFill>
                <a:latin typeface="Aptos"/>
              </a:defRPr>
            </a:pPr>
            <a:r>
              <a:t>AI-powered public issue reporting and management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3429000"/>
            <a:ext cx="1920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349300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B1F32"/>
                </a:solidFill>
                <a:latin typeface="Aptos"/>
              </a:defRPr>
            </a:pPr>
            <a:r>
              <a:t>🤖 AI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3429000"/>
            <a:ext cx="1920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349300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B1F32"/>
                </a:solidFill>
                <a:latin typeface="Aptos"/>
              </a:defRPr>
            </a:pPr>
            <a:r>
              <a:t>📍 Smart 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429000"/>
            <a:ext cx="1920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349300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B1F32"/>
                </a:solidFill>
                <a:latin typeface="Aptos"/>
              </a:defRPr>
            </a:pPr>
            <a:r>
              <a:t>🏛️ Authority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4617720"/>
            <a:ext cx="6217920" cy="777240"/>
          </a:xfrm>
          <a:prstGeom prst="roundRect">
            <a:avLst/>
          </a:prstGeom>
          <a:solidFill>
            <a:srgbClr val="5B4CDC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0" y="4736592"/>
            <a:ext cx="5943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Young Computer Scientist (YCS)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21208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5B4CDC"/>
                </a:solidFill>
                <a:latin typeface="Aptos"/>
              </a:defRPr>
            </a:pPr>
            <a:r>
              <a:t>🇱🇰 AI Innovation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B1F32"/>
                </a:solidFill>
                <a:latin typeface="Aptos"/>
              </a:defRPr>
            </a:pPr>
            <a:r>
              <a:t>🚨 The Public Issue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46A7D"/>
                </a:solidFill>
                <a:latin typeface="Aptos"/>
              </a:defRPr>
            </a:pPr>
            <a:r>
              <a:t>CIVICEYE AI   •   2/7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646A7D"/>
                </a:solidFill>
                <a:latin typeface="Aptos"/>
              </a:defRPr>
            </a:pPr>
            <a:r>
              <a:t>Public problems need a faster and more organized way to reach the right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0">
                <a:solidFill>
                  <a:srgbClr val="1B1F32"/>
                </a:solidFill>
                <a:latin typeface="Aptos"/>
              </a:defRPr>
            </a:pPr>
            <a:r>
              <a:t>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11680"/>
            <a:ext cx="3931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B1F32"/>
                </a:solidFill>
                <a:latin typeface="Aptos"/>
              </a:defRPr>
            </a:pPr>
            <a:r>
              <a:t>Difficult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0"/>
            <a:ext cx="39776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46A7D"/>
                </a:solidFill>
                <a:latin typeface="Aptos"/>
              </a:defRPr>
            </a:pPr>
            <a:r>
              <a:t>Citizens may struggle to report public problems efficiently.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0">
                <a:solidFill>
                  <a:srgbClr val="1B1F32"/>
                </a:solidFill>
                <a:latin typeface="Aptos"/>
              </a:defRPr>
            </a:pPr>
            <a:r>
              <a:t>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011680"/>
            <a:ext cx="3931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B1F32"/>
                </a:solidFill>
                <a:latin typeface="Aptos"/>
              </a:defRPr>
            </a:pPr>
            <a:r>
              <a:t>Slow Follow-up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468880"/>
            <a:ext cx="39776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46A7D"/>
                </a:solidFill>
                <a:latin typeface="Aptos"/>
              </a:defRPr>
            </a:pPr>
            <a:r>
              <a:t>Reports can be difficult to monitor after submission.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20624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0">
                <a:solidFill>
                  <a:srgbClr val="1B1F32"/>
                </a:solidFill>
                <a:latin typeface="Aptos"/>
              </a:defRPr>
            </a:pPr>
            <a: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60520"/>
            <a:ext cx="3931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B1F32"/>
                </a:solidFill>
                <a:latin typeface="Aptos"/>
              </a:defRPr>
            </a:pPr>
            <a:r>
              <a:t>Repeated Complaints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17720"/>
            <a:ext cx="39776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46A7D"/>
                </a:solidFill>
                <a:latin typeface="Aptos"/>
              </a:defRPr>
            </a:pPr>
            <a:r>
              <a:t>Similar complaints may be submitted multiple times.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20624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0">
                <a:solidFill>
                  <a:srgbClr val="1B1F32"/>
                </a:solidFill>
                <a:latin typeface="Aptos"/>
              </a:defRPr>
            </a:pPr>
            <a:r>
              <a:t>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160520"/>
            <a:ext cx="3931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B1F32"/>
                </a:solidFill>
                <a:latin typeface="Aptos"/>
              </a:defRPr>
            </a:pPr>
            <a:r>
              <a:t>Wrong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617720"/>
            <a:ext cx="39776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46A7D"/>
                </a:solidFill>
                <a:latin typeface="Aptos"/>
              </a:defRPr>
            </a:pPr>
            <a:r>
              <a:t>A report may need to reach the correct local authority.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685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6A7D"/>
                </a:solidFill>
                <a:latin typeface="Aptos"/>
              </a:defRPr>
            </a:pPr>
            <a:r>
              <a:t>Smart AI Solution for a Cleaner Sri Lanka 🇱🇰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B1F32"/>
                </a:solidFill>
                <a:latin typeface="Aptos"/>
              </a:defRPr>
            </a:pPr>
            <a:r>
              <a:t>💡 Introducing CivicEye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46A7D"/>
                </a:solidFill>
                <a:latin typeface="Aptos"/>
              </a:defRPr>
            </a:pPr>
            <a:r>
              <a:t>CIVICEYE AI   •   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646A7D"/>
                </a:solidFill>
                <a:latin typeface="Aptos"/>
              </a:defRPr>
            </a:pPr>
            <a:r>
              <a:t>One platform connecting citizens, AI-assisted analysis and authorities.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B1F32"/>
                </a:solidFill>
                <a:latin typeface="Aptos"/>
              </a:defRPr>
            </a:pPr>
            <a: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10512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B1F32"/>
                </a:solidFill>
                <a:latin typeface="Aptos"/>
              </a:defRPr>
            </a:pPr>
            <a:r>
              <a:t>AI Issue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148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Identify and categorize reported issues.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81051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B1F32"/>
                </a:solidFill>
                <a:latin typeface="Aptos"/>
              </a:defRPr>
            </a:pPr>
            <a:r>
              <a:t>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10512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B1F32"/>
                </a:solidFill>
                <a:latin typeface="Aptos"/>
              </a:defRPr>
            </a:pPr>
            <a:r>
              <a:t>Smart 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14600"/>
            <a:ext cx="2148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Capture where the issue was reported.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645920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81051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B1F32"/>
                </a:solidFill>
                <a:latin typeface="Aptos"/>
              </a:defRPr>
            </a:pPr>
            <a: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1810512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B1F32"/>
                </a:solidFill>
                <a:latin typeface="Aptos"/>
              </a:defRPr>
            </a:pPr>
            <a:r>
              <a:t>Duplicate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514600"/>
            <a:ext cx="2148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Identify similar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645920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181051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B1F32"/>
                </a:solidFill>
                <a:latin typeface="Aptos"/>
              </a:defRPr>
            </a:pPr>
            <a:r>
              <a:t>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19" y="1810512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B1F32"/>
                </a:solidFill>
                <a:latin typeface="Aptos"/>
              </a:defRPr>
            </a:pPr>
            <a:r>
              <a:t>Priority 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2514600"/>
            <a:ext cx="2148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Highlight issues needing faster attention.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49039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913631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B1F32"/>
                </a:solidFill>
                <a:latin typeface="Aptos"/>
              </a:defRPr>
            </a:pPr>
            <a:r>
              <a:t>🏛️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1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B1F32"/>
                </a:solidFill>
                <a:latin typeface="Aptos"/>
              </a:defRPr>
            </a:pPr>
            <a:r>
              <a:t>Authority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17720"/>
            <a:ext cx="2148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Suggest the relevant authority.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749039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03320" y="3913631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B1F32"/>
                </a:solidFill>
                <a:latin typeface="Aptos"/>
              </a:defRPr>
            </a:pPr>
            <a: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913631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B1F32"/>
                </a:solidFill>
                <a:latin typeface="Aptos"/>
              </a:defRPr>
            </a:pPr>
            <a:r>
              <a:t>Status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617720"/>
            <a:ext cx="2148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Monitor complaint progress.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749039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3913631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B1F32"/>
                </a:solidFill>
                <a:latin typeface="Aptos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59" y="3913631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B1F32"/>
                </a:solidFill>
                <a:latin typeface="Aptos"/>
              </a:defRPr>
            </a:pPr>
            <a:r>
              <a:t>Resolution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617720"/>
            <a:ext cx="2148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Allow citizens to verify resolution.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3749039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64040" y="3913631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0">
                <a:solidFill>
                  <a:srgbClr val="1B1F32"/>
                </a:solidFill>
                <a:latin typeface="Aptos"/>
              </a:defRPr>
            </a:pPr>
            <a:r>
              <a:t>🎙️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19" y="3913631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B1F32"/>
                </a:solidFill>
                <a:latin typeface="Aptos"/>
              </a:defRPr>
            </a:pPr>
            <a:r>
              <a:t>Multilingual Voice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59" y="4617720"/>
            <a:ext cx="2148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Support English, Tamil and Sinhala when available.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685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6A7D"/>
                </a:solidFill>
                <a:latin typeface="Aptos"/>
              </a:defRPr>
            </a:pPr>
            <a:r>
              <a:t>Smart AI Solution for a Cleaner Sri Lanka 🇱🇰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B1F32"/>
                </a:solidFill>
                <a:latin typeface="Aptos"/>
              </a:defRPr>
            </a:pPr>
            <a:r>
              <a:t>🔄 How CivicEye AI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46A7D"/>
                </a:solidFill>
                <a:latin typeface="Aptos"/>
              </a:defRPr>
            </a:pPr>
            <a:r>
              <a:t>CIVICEYE AI   •   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646A7D"/>
                </a:solidFill>
                <a:latin typeface="Aptos"/>
              </a:defRPr>
            </a:pPr>
            <a:r>
              <a:t>A simple digital workflow turns a citizen report into a trackable public issue.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B4C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0">
                <a:solidFill>
                  <a:srgbClr val="1B1F32"/>
                </a:solidFill>
                <a:latin typeface="Aptos"/>
              </a:defRPr>
            </a:pPr>
            <a:r>
              <a:t>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8288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B1F32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Citizen submits image, description and 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B4C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81051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0">
                <a:solidFill>
                  <a:srgbClr val="1B1F32"/>
                </a:solidFill>
                <a:latin typeface="Aptos"/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8288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B1F32"/>
                </a:solidFill>
                <a:latin typeface="Aptos"/>
              </a:defRPr>
            </a:pPr>
            <a:r>
              <a:t>AI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14600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System analyses and categorizes the issue.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B4C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81051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0">
                <a:solidFill>
                  <a:srgbClr val="1B1F32"/>
                </a:solidFill>
                <a:latin typeface="Aptos"/>
              </a:defRPr>
            </a:pPr>
            <a:r>
              <a:t>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18288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B1F32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514600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Priority and duplicate information are generated.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620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406908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B4C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050791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0">
                <a:solidFill>
                  <a:srgbClr val="1B1F32"/>
                </a:solidFill>
                <a:latin typeface="Aptos"/>
              </a:defRPr>
            </a:pPr>
            <a:r>
              <a:t>🏛️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06908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B1F32"/>
                </a:solidFill>
                <a:latin typeface="Aptos"/>
              </a:defRPr>
            </a:pPr>
            <a:r>
              <a:t>AUTHORITY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54880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Relevant authority can review the report.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88620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406908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B4CD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050791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0">
                <a:solidFill>
                  <a:srgbClr val="1B1F32"/>
                </a:solidFill>
                <a:latin typeface="Aptos"/>
              </a:defRPr>
            </a:pPr>
            <a: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06908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B1F32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754880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Status changes can be tracked by citizens.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88620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406908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B4CD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050791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0">
                <a:solidFill>
                  <a:srgbClr val="1B1F32"/>
                </a:solidFill>
                <a:latin typeface="Aptos"/>
              </a:defRPr>
            </a:pPr>
            <a: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406908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B1F32"/>
                </a:solidFill>
                <a:latin typeface="Aptos"/>
              </a:defRPr>
            </a:pPr>
            <a:r>
              <a:t>RESOLVE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754880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6A7D"/>
                </a:solidFill>
                <a:latin typeface="Aptos"/>
              </a:defRPr>
            </a:pPr>
            <a:r>
              <a:t>Citizen can verify the reported issue.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685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6A7D"/>
                </a:solidFill>
                <a:latin typeface="Aptos"/>
              </a:defRPr>
            </a:pPr>
            <a:r>
              <a:t>Smart AI Solution for a Cleaner Sri Lanka 🇱🇰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B1F32"/>
                </a:solidFill>
                <a:latin typeface="Aptos"/>
              </a:defRPr>
            </a:pPr>
            <a:r>
              <a:t>💻 Technology &amp;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46A7D"/>
                </a:solidFill>
                <a:latin typeface="Aptos"/>
              </a:defRPr>
            </a:pPr>
            <a:r>
              <a:t>CIVICEYE AI   •   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607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646A7D"/>
                </a:solidFill>
                <a:latin typeface="Aptos"/>
              </a:defRPr>
            </a:pPr>
            <a:r>
              <a:t>CivicEye AI combines a web frontend with a Node.js backend and API-based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1546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4CDC"/>
                </a:solidFill>
                <a:latin typeface="Aptos"/>
              </a:defRPr>
            </a:pPr>
            <a:r>
              <a:t>🌐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3774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B1F32"/>
                </a:solidFill>
                <a:latin typeface="Aptos"/>
              </a:defRPr>
            </a:pPr>
            <a:r>
              <a:t>HTML</a:t>
            </a:r>
            <a:br/>
            <a:r>
              <a:t>CSS</a:t>
            </a:r>
            <a:br/>
            <a:r>
              <a:t>JavaScript</a:t>
            </a:r>
            <a:br/>
            <a:r>
              <a:t>Responsive Web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1546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96596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4CDC"/>
                </a:solidFill>
                <a:latin typeface="Aptos"/>
              </a:defRPr>
            </a:pPr>
            <a:r>
              <a:t>⚙️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560320"/>
            <a:ext cx="26517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B1F32"/>
                </a:solidFill>
                <a:latin typeface="Aptos"/>
              </a:defRPr>
            </a:pPr>
            <a:r>
              <a:t>Node.js</a:t>
            </a:r>
            <a:br/>
            <a:r>
              <a:t>Express.js</a:t>
            </a:r>
            <a:br/>
            <a:r>
              <a:t>Multer</a:t>
            </a:r>
            <a:br/>
            <a:r>
              <a:t>REST APIs</a:t>
            </a:r>
            <a:br/>
            <a:r>
              <a:t>CORS + dotenv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737360"/>
            <a:ext cx="31546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1965960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4CDC"/>
                </a:solidFill>
                <a:latin typeface="Aptos"/>
              </a:defRPr>
            </a:pPr>
            <a:r>
              <a:t>🚀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606040"/>
            <a:ext cx="2651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B1F32"/>
                </a:solidFill>
                <a:latin typeface="Aptos"/>
              </a:defRPr>
            </a:pPr>
            <a:r>
              <a:t>Web Frontend</a:t>
            </a:r>
            <a:br/>
            <a:r>
              <a:t>+</a:t>
            </a:r>
            <a:br/>
            <a:r>
              <a:t>Railway Backend</a:t>
            </a:r>
            <a:br/>
            <a:r>
              <a:t>+</a:t>
            </a:r>
            <a:br/>
            <a:r>
              <a:t>API Communication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486400"/>
            <a:ext cx="8138160" cy="502920"/>
          </a:xfrm>
          <a:prstGeom prst="roundRect">
            <a:avLst/>
          </a:prstGeom>
          <a:solidFill>
            <a:srgbClr val="5B4CDC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48840" y="5559552"/>
            <a:ext cx="7863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Citizen  →  Frontend  →  REST API  →  Backend  → 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685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6A7D"/>
                </a:solidFill>
                <a:latin typeface="Aptos"/>
              </a:defRPr>
            </a:pPr>
            <a:r>
              <a:t>Smart AI Solution for a Cleaner Sri Lanka 🇱🇰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B1F32"/>
                </a:solidFill>
                <a:latin typeface="Aptos"/>
              </a:defRPr>
            </a:pPr>
            <a:r>
              <a:t>🧪 Testing, Impact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46A7D"/>
                </a:solidFill>
                <a:latin typeface="Aptos"/>
              </a:defRPr>
            </a:pPr>
            <a:r>
              <a:t>CIVICEYE AI   •   6/7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B4CDC"/>
                </a:solidFill>
                <a:latin typeface="Aptos"/>
              </a:defRPr>
            </a:pPr>
            <a:r>
              <a:t>🧪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57200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B1F32"/>
                </a:solidFill>
                <a:latin typeface="Aptos"/>
              </a:defRPr>
            </a:pPr>
            <a:r>
              <a:t>✅ Image upload &amp; report submission</a:t>
            </a:r>
            <a:br/>
            <a:r>
              <a:t>✅ AI processing result display</a:t>
            </a:r>
            <a:br/>
            <a:r>
              <a:t>✅ Citizen report tracking</a:t>
            </a:r>
            <a:br/>
            <a:r>
              <a:t>✅ Admin dashboard workflow</a:t>
            </a:r>
            <a:br/>
            <a:r>
              <a:t>✅ Status update APIs</a:t>
            </a:r>
            <a:br/>
            <a:r>
              <a:t>✅ Report retrieval &amp; management</a:t>
            </a:r>
            <a:br/>
            <a:r>
              <a:t>✅ Railway backend connection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B4CDC"/>
                </a:solidFill>
                <a:latin typeface="Aptos"/>
              </a:defRPr>
            </a:pPr>
            <a:r>
              <a:t>🔮 FUTURE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B1F32"/>
                </a:solidFill>
                <a:latin typeface="Aptos"/>
              </a:defRPr>
            </a:pPr>
            <a:r>
              <a:t>🤖 More advanced AI models</a:t>
            </a:r>
            <a:br/>
            <a:r>
              <a:t>🗄️ Persistent production database</a:t>
            </a:r>
            <a:br/>
            <a:r>
              <a:t>🎙️ Improved multilingual voice input</a:t>
            </a:r>
            <a:br/>
            <a:r>
              <a:t>📊 Advanced analytics</a:t>
            </a:r>
            <a:br/>
            <a:r>
              <a:t>🔔 Real-time notifications</a:t>
            </a:r>
            <a:br/>
            <a:r>
              <a:t>🌍 Wider community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685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46A7D"/>
                </a:solidFill>
                <a:latin typeface="Aptos"/>
              </a:defRPr>
            </a:pPr>
            <a:r>
              <a:t>Smart AI Solution for a Cleaner Sri Lanka 🇱🇰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1B1F32"/>
                </a:solidFill>
                <a:latin typeface="Aptos"/>
              </a:defRPr>
            </a:pPr>
            <a:r>
              <a:t>👁️ CivicEye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5B4CDC"/>
                </a:solidFill>
                <a:latin typeface="Aptos"/>
              </a:defRPr>
            </a:pPr>
            <a:r>
              <a:t>Building smarter communities through AI and digital reporting 🇱🇰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10332720" cy="1097280"/>
          </a:xfrm>
          <a:prstGeom prst="roundRect">
            <a:avLst/>
          </a:prstGeom>
          <a:solidFill>
            <a:srgbClr val="5B4CDC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95728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Report  •  Analyse  •  Prioritize  •  Connect  •  Resolve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4892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767328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46A7D"/>
                </a:solidFill>
                <a:latin typeface="Aptos"/>
              </a:defRPr>
            </a:pPr>
            <a:r>
              <a:t>Project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3749039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1B1F32"/>
                </a:solidFill>
                <a:latin typeface="Aptos"/>
              </a:defRPr>
            </a:pPr>
            <a:r>
              <a:t>CivicEye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657600"/>
            <a:ext cx="4892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3767328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46A7D"/>
                </a:solidFill>
                <a:latin typeface="Aptos"/>
              </a:defRPr>
            </a:pPr>
            <a:r>
              <a:t>Competition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49039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1B1F32"/>
                </a:solidFill>
                <a:latin typeface="Aptos"/>
              </a:defRPr>
            </a:pPr>
            <a:r>
              <a:t>Young Computer Scientist (YCS)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4892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910328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46A7D"/>
                </a:solidFill>
                <a:latin typeface="Aptos"/>
              </a:defRPr>
            </a:pPr>
            <a:r>
              <a:t>Project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89204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1B1F32"/>
                </a:solidFill>
                <a:latin typeface="Aptos"/>
              </a:defRPr>
            </a:pPr>
            <a:r>
              <a:t>AI-Powered Web Application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800600"/>
            <a:ext cx="4892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4910328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46A7D"/>
                </a:solidFill>
                <a:latin typeface="Aptos"/>
              </a:defRPr>
            </a:pPr>
            <a:r>
              <a:t>Country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89204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1B1F32"/>
                </a:solidFill>
                <a:latin typeface="Aptos"/>
              </a:defRPr>
            </a:pPr>
            <a:r>
              <a:t>Sri Lanka 🇱🇰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608076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5B4CDC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537</Words>
  <Application>Microsoft Office PowerPoint</Application>
  <PresentationFormat>Widescreen</PresentationFormat>
  <Paragraphs>111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Soft Tech</cp:lastModifiedBy>
  <cp:revision>2</cp:revision>
  <dcterms:created xsi:type="dcterms:W3CDTF">2013-01-27T09:14:16Z</dcterms:created>
  <dcterms:modified xsi:type="dcterms:W3CDTF">2026-08-31T01:01:05Z</dcterms:modified>
  <cp:category/>
</cp:coreProperties>
</file>