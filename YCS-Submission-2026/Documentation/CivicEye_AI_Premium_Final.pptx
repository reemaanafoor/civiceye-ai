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912" y="3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458200" y="-1051560"/>
            <a:ext cx="4754880" cy="4754880"/>
          </a:xfrm>
          <a:prstGeom prst="ellipse">
            <a:avLst/>
          </a:prstGeom>
          <a:solidFill>
            <a:srgbClr val="E2D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234440" y="4892040"/>
            <a:ext cx="3749039" cy="3749039"/>
          </a:xfrm>
          <a:prstGeom prst="ellipse">
            <a:avLst/>
          </a:prstGeom>
          <a:solidFill>
            <a:srgbClr val="E0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914400"/>
            <a:ext cx="868680" cy="868680"/>
          </a:xfrm>
          <a:prstGeom prst="roundRect">
            <a:avLst/>
          </a:prstGeom>
          <a:solidFill>
            <a:srgbClr val="5B4CDC"/>
          </a:solidFill>
          <a:ln w="12700">
            <a:solidFill>
              <a:srgbClr val="5B4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74519" y="932688"/>
            <a:ext cx="61264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4000" b="1">
                <a:solidFill>
                  <a:srgbClr val="191F34"/>
                </a:solidFill>
                <a:latin typeface="Arial"/>
              </a:defRPr>
            </a:pPr>
            <a:r>
              <a:t>CivicEye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1952" y="1719072"/>
            <a:ext cx="67665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2100" b="1">
                <a:solidFill>
                  <a:srgbClr val="5B4CDC"/>
                </a:solidFill>
                <a:latin typeface="Arial"/>
              </a:defRPr>
            </a:pPr>
            <a:r>
              <a:t>AI-Assisted Public Issue Reporting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1952" y="2395728"/>
            <a:ext cx="6766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600" b="0">
                <a:solidFill>
                  <a:srgbClr val="646C80"/>
                </a:solidFill>
                <a:latin typeface="Arial"/>
              </a:defRPr>
            </a:pPr>
            <a:r>
              <a:t>A digital platform for reporting, analysing, prioritising and monitoring public issues.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01952" y="3429000"/>
            <a:ext cx="1508760" cy="438912"/>
          </a:xfrm>
          <a:prstGeom prst="roundRect">
            <a:avLst/>
          </a:prstGeom>
          <a:solidFill>
            <a:srgbClr val="E2DEFF"/>
          </a:solidFill>
          <a:ln w="12700">
            <a:solidFill>
              <a:srgbClr val="E2D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901952" y="3447288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900" b="1">
                <a:solidFill>
                  <a:srgbClr val="5B4CDC"/>
                </a:solidFill>
                <a:latin typeface="Arial"/>
              </a:defRPr>
            </a:pPr>
            <a:r>
              <a:t>AI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84448" y="3429000"/>
            <a:ext cx="1325880" cy="438912"/>
          </a:xfrm>
          <a:prstGeom prst="roundRect">
            <a:avLst/>
          </a:prstGeom>
          <a:solidFill>
            <a:srgbClr val="E0F1FF"/>
          </a:solidFill>
          <a:ln w="12700">
            <a:solidFill>
              <a:srgbClr val="E0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84448" y="3447288"/>
            <a:ext cx="1325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900" b="1">
                <a:solidFill>
                  <a:srgbClr val="39A8FF"/>
                </a:solidFill>
                <a:latin typeface="Arial"/>
              </a:defRPr>
            </a:pPr>
            <a:r>
              <a:t>LOCATION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3429000"/>
            <a:ext cx="1325880" cy="438912"/>
          </a:xfrm>
          <a:prstGeom prst="roundRect">
            <a:avLst/>
          </a:prstGeom>
          <a:solidFill>
            <a:srgbClr val="E0F8EF"/>
          </a:solidFill>
          <a:ln w="12700">
            <a:solidFill>
              <a:srgbClr val="E0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74920" y="3447288"/>
            <a:ext cx="1325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900" b="1">
                <a:solidFill>
                  <a:srgbClr val="24B478"/>
                </a:solidFill>
                <a:latin typeface="Arial"/>
              </a:defRPr>
            </a:pPr>
            <a:r>
              <a:t>PRIORITY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65392" y="3429000"/>
            <a:ext cx="1371600" cy="438912"/>
          </a:xfrm>
          <a:prstGeom prst="roundRect">
            <a:avLst/>
          </a:prstGeom>
          <a:solidFill>
            <a:srgbClr val="FFF4DC"/>
          </a:solidFill>
          <a:ln w="12700">
            <a:solidFill>
              <a:srgbClr val="FFF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65392" y="3447288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Arial"/>
              </a:defRPr>
            </a:pPr>
            <a:r>
              <a:t>TRACKING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01952" y="4343400"/>
            <a:ext cx="6355080" cy="868680"/>
          </a:xfrm>
          <a:prstGeom prst="roundRect">
            <a:avLst/>
          </a:prstGeom>
          <a:solidFill>
            <a:srgbClr val="5B4CDC"/>
          </a:solidFill>
          <a:ln w="12700">
            <a:solidFill>
              <a:srgbClr val="5B4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57400" y="4517136"/>
            <a:ext cx="60350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Young Computer Scientist Competition (YCS)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20" y="2423160"/>
            <a:ext cx="306324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49640" y="2670048"/>
            <a:ext cx="2514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100" b="1">
                <a:solidFill>
                  <a:srgbClr val="5B4CDC"/>
                </a:solidFill>
                <a:latin typeface="Arial"/>
              </a:defRPr>
            </a:pPr>
            <a:r>
              <a:t>CIVICEYE WORKFLOW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41080" y="3154680"/>
            <a:ext cx="2331720" cy="329184"/>
          </a:xfrm>
          <a:prstGeom prst="roundRect">
            <a:avLst/>
          </a:prstGeom>
          <a:solidFill>
            <a:srgbClr val="E2DEFF"/>
          </a:solidFill>
          <a:ln w="12700">
            <a:solidFill>
              <a:srgbClr val="E2D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41080" y="3163824"/>
            <a:ext cx="2331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850" b="1">
                <a:solidFill>
                  <a:srgbClr val="5B4CDC"/>
                </a:solidFill>
                <a:latin typeface="Arial"/>
              </a:defRPr>
            </a:pPr>
            <a:r>
              <a:t>REPORT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02368" y="3483864"/>
            <a:ext cx="0" cy="109728"/>
          </a:xfrm>
          <a:prstGeom prst="line">
            <a:avLst/>
          </a:prstGeom>
          <a:ln w="25400">
            <a:solidFill>
              <a:srgbClr val="2EC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641080" y="3593592"/>
            <a:ext cx="2331720" cy="329184"/>
          </a:xfrm>
          <a:prstGeom prst="roundRect">
            <a:avLst/>
          </a:prstGeom>
          <a:solidFill>
            <a:srgbClr val="E0F1FF"/>
          </a:solidFill>
          <a:ln w="12700">
            <a:solidFill>
              <a:srgbClr val="E0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41080" y="3602736"/>
            <a:ext cx="2331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850" b="1">
                <a:solidFill>
                  <a:srgbClr val="39A8FF"/>
                </a:solidFill>
                <a:latin typeface="Arial"/>
              </a:defRPr>
            </a:pPr>
            <a:r>
              <a:t>AI ANALYSE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02368" y="3922776"/>
            <a:ext cx="0" cy="109728"/>
          </a:xfrm>
          <a:prstGeom prst="line">
            <a:avLst/>
          </a:prstGeom>
          <a:ln w="25400">
            <a:solidFill>
              <a:srgbClr val="2EC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641080" y="4032504"/>
            <a:ext cx="2331720" cy="329184"/>
          </a:xfrm>
          <a:prstGeom prst="roundRect">
            <a:avLst/>
          </a:prstGeom>
          <a:solidFill>
            <a:srgbClr val="E0F8EF"/>
          </a:solidFill>
          <a:ln w="12700">
            <a:solidFill>
              <a:srgbClr val="E0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41080" y="4041648"/>
            <a:ext cx="2331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850" b="1">
                <a:solidFill>
                  <a:srgbClr val="24B478"/>
                </a:solidFill>
                <a:latin typeface="Arial"/>
              </a:defRPr>
            </a:pPr>
            <a:r>
              <a:t>PRIORITY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802368" y="4361688"/>
            <a:ext cx="0" cy="109728"/>
          </a:xfrm>
          <a:prstGeom prst="line">
            <a:avLst/>
          </a:prstGeom>
          <a:ln w="25400">
            <a:solidFill>
              <a:srgbClr val="2EC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641080" y="4471416"/>
            <a:ext cx="2331720" cy="329184"/>
          </a:xfrm>
          <a:prstGeom prst="roundRect">
            <a:avLst/>
          </a:prstGeom>
          <a:solidFill>
            <a:srgbClr val="FFF4DC"/>
          </a:solidFill>
          <a:ln w="12700">
            <a:solidFill>
              <a:srgbClr val="FFF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41080" y="4480560"/>
            <a:ext cx="2331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850" b="1">
                <a:solidFill>
                  <a:srgbClr val="F59E0B"/>
                </a:solidFill>
                <a:latin typeface="Arial"/>
              </a:defRPr>
            </a:pPr>
            <a:r>
              <a:t>AUTHORITY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802368" y="4800600"/>
            <a:ext cx="0" cy="109728"/>
          </a:xfrm>
          <a:prstGeom prst="line">
            <a:avLst/>
          </a:prstGeom>
          <a:ln w="25400">
            <a:solidFill>
              <a:srgbClr val="2EC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641080" y="4910328"/>
            <a:ext cx="2331720" cy="329184"/>
          </a:xfrm>
          <a:prstGeom prst="roundRect">
            <a:avLst/>
          </a:prstGeom>
          <a:solidFill>
            <a:srgbClr val="E2DEFF"/>
          </a:solidFill>
          <a:ln w="12700">
            <a:solidFill>
              <a:srgbClr val="E2D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41080" y="4919472"/>
            <a:ext cx="23317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850" b="1">
                <a:solidFill>
                  <a:srgbClr val="5B4CDC"/>
                </a:solidFill>
                <a:latin typeface="Arial"/>
              </a:defRPr>
            </a:pPr>
            <a:r>
              <a:t>TRACK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5285232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646C80"/>
                </a:solidFill>
                <a:latin typeface="Arial"/>
              </a:defRPr>
            </a:pPr>
            <a:r>
              <a:t>From citizen report to</a:t>
            </a:r>
            <a:br/>
            <a:r>
              <a:t>continuous monitoring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5971032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300" b="1">
                <a:solidFill>
                  <a:srgbClr val="5B4CDC"/>
                </a:solidFill>
                <a:latin typeface="Arial"/>
              </a:defRPr>
            </a:pPr>
            <a:r>
              <a:rPr dirty="0"/>
              <a:t>Sri Lanka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6576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2600" b="1">
                <a:solidFill>
                  <a:srgbClr val="191F34"/>
                </a:solidFill>
                <a:latin typeface="Arial"/>
              </a:defRPr>
            </a:pPr>
            <a:r>
              <a:t>The Public Issue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9509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300" b="0">
                <a:solidFill>
                  <a:srgbClr val="646C80"/>
                </a:solidFill>
                <a:latin typeface="Arial"/>
              </a:defRPr>
            </a:pPr>
            <a:r>
              <a:t>Common gaps in reporting, routing and monitoring public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64040" y="42976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defRPr sz="900" b="1">
                <a:solidFill>
                  <a:srgbClr val="646C80"/>
                </a:solidFill>
                <a:latin typeface="Arial"/>
              </a:defRPr>
            </a:pPr>
            <a:r>
              <a:t>CIVICEYE AI   |   2/7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25880"/>
            <a:ext cx="1143000" cy="54864"/>
          </a:xfrm>
          <a:prstGeom prst="rect">
            <a:avLst/>
          </a:prstGeom>
          <a:solidFill>
            <a:srgbClr val="5B4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578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60120" y="2029967"/>
            <a:ext cx="566928" cy="566928"/>
          </a:xfrm>
          <a:prstGeom prst="roundRect">
            <a:avLst/>
          </a:prstGeom>
          <a:solidFill>
            <a:srgbClr val="39A8FF"/>
          </a:solidFill>
          <a:ln w="12700">
            <a:solidFill>
              <a:srgbClr val="39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984248"/>
            <a:ext cx="3886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600" b="1">
                <a:solidFill>
                  <a:srgbClr val="191F34"/>
                </a:solidFill>
                <a:latin typeface="Arial"/>
              </a:defRPr>
            </a:pPr>
            <a:r>
              <a:t>REPORTING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46888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200" b="0">
                <a:solidFill>
                  <a:srgbClr val="646C80"/>
                </a:solidFill>
                <a:latin typeface="Arial"/>
              </a:defRPr>
            </a:pPr>
            <a:r>
              <a:t>Citizens need a structured way to submit issue details, images and location.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83080"/>
            <a:ext cx="52578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0" y="2029967"/>
            <a:ext cx="566928" cy="566928"/>
          </a:xfrm>
          <a:prstGeom prst="roundRect">
            <a:avLst/>
          </a:prstGeom>
          <a:solidFill>
            <a:srgbClr val="5B4CDC"/>
          </a:solidFill>
          <a:ln w="12700">
            <a:solidFill>
              <a:srgbClr val="5B4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1984248"/>
            <a:ext cx="3886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600" b="1">
                <a:solidFill>
                  <a:srgbClr val="191F34"/>
                </a:solidFill>
                <a:latin typeface="Arial"/>
              </a:defRPr>
            </a:pPr>
            <a:r>
              <a:t>VISIBILITY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46888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200" b="0">
                <a:solidFill>
                  <a:srgbClr val="646C80"/>
                </a:solidFill>
                <a:latin typeface="Arial"/>
              </a:defRPr>
            </a:pPr>
            <a:r>
              <a:t>Citizens need clearer visibility after a report has been submitted.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52578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60120" y="4133087"/>
            <a:ext cx="566928" cy="566928"/>
          </a:xfrm>
          <a:prstGeom prst="roundRect">
            <a:avLst/>
          </a:prstGeom>
          <a:solidFill>
            <a:srgbClr val="24B478"/>
          </a:solidFill>
          <a:ln w="12700">
            <a:solidFill>
              <a:srgbClr val="24B4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4206240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087368"/>
            <a:ext cx="3886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600" b="1">
                <a:solidFill>
                  <a:srgbClr val="191F34"/>
                </a:solidFill>
                <a:latin typeface="Arial"/>
              </a:defRPr>
            </a:pPr>
            <a:r>
              <a:t>DUPLICATES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7200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200" b="0">
                <a:solidFill>
                  <a:srgbClr val="646C80"/>
                </a:solidFill>
                <a:latin typeface="Arial"/>
              </a:defRPr>
            </a:pPr>
            <a:r>
              <a:t>The same issue can potentially be reported multiple times.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886200"/>
            <a:ext cx="52578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00800" y="4133087"/>
            <a:ext cx="566928" cy="566928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4206240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087368"/>
            <a:ext cx="3886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600" b="1">
                <a:solidFill>
                  <a:srgbClr val="191F34"/>
                </a:solidFill>
                <a:latin typeface="Arial"/>
              </a:defRPr>
            </a:pPr>
            <a:r>
              <a:t>ROUTING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57200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200" b="0">
                <a:solidFill>
                  <a:srgbClr val="646C80"/>
                </a:solidFill>
                <a:latin typeface="Arial"/>
              </a:defRPr>
            </a:pPr>
            <a:r>
              <a:t>Different issue categories may require different responsible authorities.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510528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800" b="0">
                <a:solidFill>
                  <a:srgbClr val="646C80"/>
                </a:solidFill>
                <a:latin typeface="Arial"/>
              </a:defRPr>
            </a:pPr>
            <a:r>
              <a:t>CivicEye AI  |  YCS 2026  |  Sri Lanka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6576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2600" b="1">
                <a:solidFill>
                  <a:srgbClr val="191F34"/>
                </a:solidFill>
                <a:latin typeface="Arial"/>
              </a:defRPr>
            </a:pPr>
            <a:r>
              <a:t>Introducing CivicEye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9509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300" b="0">
                <a:solidFill>
                  <a:srgbClr val="646C80"/>
                </a:solidFill>
                <a:latin typeface="Arial"/>
              </a:defRPr>
            </a:pPr>
            <a:r>
              <a:t>A single digital workflow connecting citizens, analysis and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64040" y="42976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defRPr sz="900" b="1">
                <a:solidFill>
                  <a:srgbClr val="646C80"/>
                </a:solidFill>
                <a:latin typeface="Arial"/>
              </a:defRPr>
            </a:pPr>
            <a:r>
              <a:t>CIVICEYE AI   |   3/7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25880"/>
            <a:ext cx="1143000" cy="54864"/>
          </a:xfrm>
          <a:prstGeom prst="rect">
            <a:avLst/>
          </a:prstGeom>
          <a:solidFill>
            <a:srgbClr val="5B4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572768"/>
            <a:ext cx="10972800" cy="868680"/>
          </a:xfrm>
          <a:prstGeom prst="roundRect">
            <a:avLst/>
          </a:prstGeom>
          <a:solidFill>
            <a:srgbClr val="5B4CDC"/>
          </a:solidFill>
          <a:ln w="12700">
            <a:solidFill>
              <a:srgbClr val="5B4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104241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rial"/>
              </a:defRPr>
            </a:pPr>
            <a:r>
              <a:t>Report  -&gt;  Analyse  -&gt;  Prioritise  -&gt;  Route  -&gt;  Monitor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43200"/>
            <a:ext cx="2514600" cy="1234440"/>
          </a:xfrm>
          <a:prstGeom prst="roundRect">
            <a:avLst/>
          </a:prstGeom>
          <a:solidFill>
            <a:srgbClr val="E2DEFF"/>
          </a:solidFill>
          <a:ln w="12700">
            <a:solidFill>
              <a:srgbClr val="E2D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50392" y="2907792"/>
            <a:ext cx="411480" cy="54864"/>
          </a:xfrm>
          <a:prstGeom prst="rect">
            <a:avLst/>
          </a:prstGeom>
          <a:solidFill>
            <a:srgbClr val="5B4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0392" y="3090672"/>
            <a:ext cx="21854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200" b="1">
                <a:solidFill>
                  <a:srgbClr val="5B4CDC"/>
                </a:solidFill>
                <a:latin typeface="Arial"/>
              </a:defRPr>
            </a:pPr>
            <a:r>
              <a:t>IMAGE REPORTING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438144"/>
            <a:ext cx="2185416" cy="4297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00" b="0">
                <a:solidFill>
                  <a:srgbClr val="191F34"/>
                </a:solidFill>
                <a:latin typeface="Arial"/>
              </a:defRPr>
            </a:pPr>
            <a:r>
              <a:t>Upload an image with a public issue report.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2743200"/>
            <a:ext cx="2514600" cy="1234440"/>
          </a:xfrm>
          <a:prstGeom prst="roundRect">
            <a:avLst/>
          </a:prstGeom>
          <a:solidFill>
            <a:srgbClr val="E0F1FF"/>
          </a:solidFill>
          <a:ln w="12700">
            <a:solidFill>
              <a:srgbClr val="E0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39312" y="2907792"/>
            <a:ext cx="411480" cy="54864"/>
          </a:xfrm>
          <a:prstGeom prst="rect">
            <a:avLst/>
          </a:prstGeom>
          <a:solidFill>
            <a:srgbClr val="39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39312" y="3090672"/>
            <a:ext cx="21854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200" b="1">
                <a:solidFill>
                  <a:srgbClr val="39A8FF"/>
                </a:solidFill>
                <a:latin typeface="Arial"/>
              </a:defRPr>
            </a:pPr>
            <a:r>
              <a:t>LOCATION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3438144"/>
            <a:ext cx="2185416" cy="4297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00" b="0">
                <a:solidFill>
                  <a:srgbClr val="191F34"/>
                </a:solidFill>
                <a:latin typeface="Arial"/>
              </a:defRPr>
            </a:pPr>
            <a:r>
              <a:t>Capture the issue location using browser geolocation.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743200"/>
            <a:ext cx="2514600" cy="1234440"/>
          </a:xfrm>
          <a:prstGeom prst="roundRect">
            <a:avLst/>
          </a:prstGeom>
          <a:solidFill>
            <a:srgbClr val="E0F8EF"/>
          </a:solidFill>
          <a:ln w="12700">
            <a:solidFill>
              <a:srgbClr val="E0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28231" y="2907792"/>
            <a:ext cx="411480" cy="54864"/>
          </a:xfrm>
          <a:prstGeom prst="rect">
            <a:avLst/>
          </a:prstGeom>
          <a:solidFill>
            <a:srgbClr val="24B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28231" y="3090672"/>
            <a:ext cx="21854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200" b="1">
                <a:solidFill>
                  <a:srgbClr val="24B478"/>
                </a:solidFill>
                <a:latin typeface="Arial"/>
              </a:defRPr>
            </a:pPr>
            <a:r>
              <a:t>VOICE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1" y="3438144"/>
            <a:ext cx="2185416" cy="4297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00" b="0">
                <a:solidFill>
                  <a:srgbClr val="191F34"/>
                </a:solidFill>
                <a:latin typeface="Arial"/>
              </a:defRPr>
            </a:pPr>
            <a:r>
              <a:t>Voice input supports English, Tamil and Sinhala.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59" y="2743200"/>
            <a:ext cx="2514600" cy="1234440"/>
          </a:xfrm>
          <a:prstGeom prst="roundRect">
            <a:avLst/>
          </a:prstGeom>
          <a:solidFill>
            <a:srgbClr val="FFF4DC"/>
          </a:solidFill>
          <a:ln w="12700">
            <a:solidFill>
              <a:srgbClr val="FFF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217151" y="2907792"/>
            <a:ext cx="41148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17151" y="3090672"/>
            <a:ext cx="21854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Arial"/>
              </a:defRPr>
            </a:pPr>
            <a:r>
              <a:t>PRIORITY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7151" y="3438144"/>
            <a:ext cx="2185416" cy="4297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00" b="0">
                <a:solidFill>
                  <a:srgbClr val="191F34"/>
                </a:solidFill>
                <a:latin typeface="Arial"/>
              </a:defRPr>
            </a:pPr>
            <a:r>
              <a:t>Generate an emergency priority score from report information.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251960"/>
            <a:ext cx="2514600" cy="1234440"/>
          </a:xfrm>
          <a:prstGeom prst="roundRect">
            <a:avLst/>
          </a:prstGeom>
          <a:solidFill>
            <a:srgbClr val="E2DEFF"/>
          </a:solidFill>
          <a:ln w="12700">
            <a:solidFill>
              <a:srgbClr val="E2D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50392" y="4416552"/>
            <a:ext cx="411480" cy="54864"/>
          </a:xfrm>
          <a:prstGeom prst="rect">
            <a:avLst/>
          </a:prstGeom>
          <a:solidFill>
            <a:srgbClr val="5B4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0392" y="4599432"/>
            <a:ext cx="21854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200" b="1">
                <a:solidFill>
                  <a:srgbClr val="5B4CDC"/>
                </a:solidFill>
                <a:latin typeface="Arial"/>
              </a:defRPr>
            </a:pPr>
            <a:r>
              <a:t>AUTHORITY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" y="4946904"/>
            <a:ext cx="2185416" cy="4297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00" b="0">
                <a:solidFill>
                  <a:srgbClr val="191F34"/>
                </a:solidFill>
                <a:latin typeface="Arial"/>
              </a:defRPr>
            </a:pPr>
            <a:r>
              <a:t>Recommend a relevant authority based on issue category.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74720" y="4251960"/>
            <a:ext cx="2514600" cy="1234440"/>
          </a:xfrm>
          <a:prstGeom prst="roundRect">
            <a:avLst/>
          </a:prstGeom>
          <a:solidFill>
            <a:srgbClr val="E0F1FF"/>
          </a:solidFill>
          <a:ln w="12700">
            <a:solidFill>
              <a:srgbClr val="E0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9312" y="4416552"/>
            <a:ext cx="411480" cy="54864"/>
          </a:xfrm>
          <a:prstGeom prst="rect">
            <a:avLst/>
          </a:prstGeom>
          <a:solidFill>
            <a:srgbClr val="39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39312" y="4599432"/>
            <a:ext cx="21854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200" b="1">
                <a:solidFill>
                  <a:srgbClr val="39A8FF"/>
                </a:solidFill>
                <a:latin typeface="Arial"/>
              </a:defRPr>
            </a:pPr>
            <a:r>
              <a:t>DUPLICATES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9312" y="4946904"/>
            <a:ext cx="2185416" cy="4297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00" b="0">
                <a:solidFill>
                  <a:srgbClr val="191F34"/>
                </a:solidFill>
                <a:latin typeface="Arial"/>
              </a:defRPr>
            </a:pPr>
            <a:r>
              <a:t>Check for potentially matching reports.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4251960"/>
            <a:ext cx="2514600" cy="1234440"/>
          </a:xfrm>
          <a:prstGeom prst="roundRect">
            <a:avLst/>
          </a:prstGeom>
          <a:solidFill>
            <a:srgbClr val="E0F8EF"/>
          </a:solidFill>
          <a:ln w="12700">
            <a:solidFill>
              <a:srgbClr val="E0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28231" y="4416552"/>
            <a:ext cx="411480" cy="54864"/>
          </a:xfrm>
          <a:prstGeom prst="rect">
            <a:avLst/>
          </a:prstGeom>
          <a:solidFill>
            <a:srgbClr val="24B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28231" y="4599432"/>
            <a:ext cx="21854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200" b="1">
                <a:solidFill>
                  <a:srgbClr val="24B478"/>
                </a:solidFill>
                <a:latin typeface="Arial"/>
              </a:defRPr>
            </a:pPr>
            <a:r>
              <a:t>NOTIFICATIONS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8231" y="4946904"/>
            <a:ext cx="2185416" cy="4297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00" b="0">
                <a:solidFill>
                  <a:srgbClr val="191F34"/>
                </a:solidFill>
                <a:latin typeface="Arial"/>
              </a:defRPr>
            </a:pPr>
            <a:r>
              <a:t>Notify citizens when report information changes.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59" y="4251960"/>
            <a:ext cx="2514600" cy="1234440"/>
          </a:xfrm>
          <a:prstGeom prst="roundRect">
            <a:avLst/>
          </a:prstGeom>
          <a:solidFill>
            <a:srgbClr val="FFF4DC"/>
          </a:solidFill>
          <a:ln w="12700">
            <a:solidFill>
              <a:srgbClr val="FFF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217151" y="4416552"/>
            <a:ext cx="41148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217151" y="4599432"/>
            <a:ext cx="21854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Arial"/>
              </a:defRPr>
            </a:pPr>
            <a:r>
              <a:t>TRACKING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7151" y="4946904"/>
            <a:ext cx="2185416" cy="4297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00" b="0">
                <a:solidFill>
                  <a:srgbClr val="191F34"/>
                </a:solidFill>
                <a:latin typeface="Arial"/>
              </a:defRPr>
            </a:pPr>
            <a:r>
              <a:t>Follow report status from submission to resolution.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510528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800" b="0">
                <a:solidFill>
                  <a:srgbClr val="646C80"/>
                </a:solidFill>
                <a:latin typeface="Arial"/>
              </a:defRPr>
            </a:pPr>
            <a:r>
              <a:t>CivicEye AI  |  YCS 2026  |  Sri Lanka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6576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2600" b="1">
                <a:solidFill>
                  <a:srgbClr val="191F34"/>
                </a:solidFill>
                <a:latin typeface="Arial"/>
              </a:defRPr>
            </a:pPr>
            <a:r>
              <a:t>How CivicEye AI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9509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300" b="0">
                <a:solidFill>
                  <a:srgbClr val="646C80"/>
                </a:solidFill>
                <a:latin typeface="Arial"/>
              </a:defRPr>
            </a:pPr>
            <a:r>
              <a:t>A complete workflow from citizen submission to status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64040" y="42976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defRPr sz="900" b="1">
                <a:solidFill>
                  <a:srgbClr val="646C80"/>
                </a:solidFill>
                <a:latin typeface="Arial"/>
              </a:defRPr>
            </a:pPr>
            <a:r>
              <a:t>CIVICEYE AI   |   4/7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25880"/>
            <a:ext cx="1143000" cy="54864"/>
          </a:xfrm>
          <a:prstGeom prst="rect">
            <a:avLst/>
          </a:prstGeom>
          <a:solidFill>
            <a:srgbClr val="5B4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33832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920240"/>
            <a:ext cx="594360" cy="594360"/>
          </a:xfrm>
          <a:prstGeom prst="roundRect">
            <a:avLst/>
          </a:prstGeom>
          <a:solidFill>
            <a:srgbClr val="5B4CDC"/>
          </a:solidFill>
          <a:ln w="12700">
            <a:solidFill>
              <a:srgbClr val="5B4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002536"/>
            <a:ext cx="5943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89280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500" b="1">
                <a:solidFill>
                  <a:srgbClr val="191F34"/>
                </a:solidFill>
                <a:latin typeface="Arial"/>
              </a:defRPr>
            </a:pPr>
            <a:r>
              <a:t>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350008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646C80"/>
                </a:solidFill>
                <a:latin typeface="Arial"/>
              </a:defRPr>
            </a:pPr>
            <a:r>
              <a:t>Citizen submits an image, description and location.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691640"/>
            <a:ext cx="33832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63440" y="1920240"/>
            <a:ext cx="594360" cy="594360"/>
          </a:xfrm>
          <a:prstGeom prst="roundRect">
            <a:avLst/>
          </a:prstGeom>
          <a:solidFill>
            <a:srgbClr val="39A8FF"/>
          </a:solidFill>
          <a:ln w="12700">
            <a:solidFill>
              <a:srgbClr val="39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0" y="2002536"/>
            <a:ext cx="5943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189280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500" b="1">
                <a:solidFill>
                  <a:srgbClr val="191F34"/>
                </a:solidFill>
                <a:latin typeface="Arial"/>
              </a:defRPr>
            </a:pPr>
            <a:r>
              <a:t>ANALYSE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2350008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646C80"/>
                </a:solidFill>
                <a:latin typeface="Arial"/>
              </a:defRPr>
            </a:pPr>
            <a:r>
              <a:t>Rule-based logic analyses issue information.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691640"/>
            <a:ext cx="33832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458200" y="1920240"/>
            <a:ext cx="594360" cy="594360"/>
          </a:xfrm>
          <a:prstGeom prst="roundRect">
            <a:avLst/>
          </a:prstGeom>
          <a:solidFill>
            <a:srgbClr val="5B4CDC"/>
          </a:solidFill>
          <a:ln w="12700">
            <a:solidFill>
              <a:srgbClr val="5B4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58200" y="2002536"/>
            <a:ext cx="5943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89280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500" b="1">
                <a:solidFill>
                  <a:srgbClr val="191F34"/>
                </a:solidFill>
                <a:latin typeface="Arial"/>
              </a:defRPr>
            </a:pPr>
            <a:r>
              <a:t>PRIORITISE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350008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646C80"/>
                </a:solidFill>
                <a:latin typeface="Arial"/>
              </a:defRPr>
            </a:pPr>
            <a:r>
              <a:t>Priority and duplicate information are generated.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33832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68680" y="4069080"/>
            <a:ext cx="594360" cy="594360"/>
          </a:xfrm>
          <a:prstGeom prst="roundRect">
            <a:avLst/>
          </a:prstGeom>
          <a:solidFill>
            <a:srgbClr val="39A8FF"/>
          </a:solidFill>
          <a:ln w="12700">
            <a:solidFill>
              <a:srgbClr val="39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4151376"/>
            <a:ext cx="5943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04164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500" b="1">
                <a:solidFill>
                  <a:srgbClr val="191F34"/>
                </a:solidFill>
                <a:latin typeface="Arial"/>
              </a:defRPr>
            </a:pPr>
            <a:r>
              <a:t>ROUTE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498848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646C80"/>
                </a:solidFill>
                <a:latin typeface="Arial"/>
              </a:defRPr>
            </a:pPr>
            <a:r>
              <a:t>A relevant authority is recommended.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3840480"/>
            <a:ext cx="33832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663440" y="4069080"/>
            <a:ext cx="594360" cy="594360"/>
          </a:xfrm>
          <a:prstGeom prst="roundRect">
            <a:avLst/>
          </a:prstGeom>
          <a:solidFill>
            <a:srgbClr val="5B4CDC"/>
          </a:solidFill>
          <a:ln w="12700">
            <a:solidFill>
              <a:srgbClr val="5B4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63440" y="4151376"/>
            <a:ext cx="5943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404164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500" b="1">
                <a:solidFill>
                  <a:srgbClr val="191F34"/>
                </a:solidFill>
                <a:latin typeface="Arial"/>
              </a:defRPr>
            </a:pPr>
            <a: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4498848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646C80"/>
                </a:solidFill>
                <a:latin typeface="Arial"/>
              </a:defRPr>
            </a:pPr>
            <a:r>
              <a:t>Admin reviews reports and updates status.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3840480"/>
            <a:ext cx="33832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458200" y="4069080"/>
            <a:ext cx="594360" cy="594360"/>
          </a:xfrm>
          <a:prstGeom prst="roundRect">
            <a:avLst/>
          </a:prstGeom>
          <a:solidFill>
            <a:srgbClr val="39A8FF"/>
          </a:solidFill>
          <a:ln w="12700">
            <a:solidFill>
              <a:srgbClr val="39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58200" y="4151376"/>
            <a:ext cx="5943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404164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500" b="1">
                <a:solidFill>
                  <a:srgbClr val="191F34"/>
                </a:solidFill>
                <a:latin typeface="Arial"/>
              </a:defRPr>
            </a:pPr>
            <a:r>
              <a:t>NOTIFY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4498848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646C80"/>
                </a:solidFill>
                <a:latin typeface="Arial"/>
              </a:defRPr>
            </a:pPr>
            <a:r>
              <a:t>Citizen tracks the report and receives updates.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023360" y="2514600"/>
            <a:ext cx="320040" cy="0"/>
          </a:xfrm>
          <a:prstGeom prst="line">
            <a:avLst/>
          </a:prstGeom>
          <a:ln w="25400">
            <a:solidFill>
              <a:srgbClr val="2EC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818120" y="2514600"/>
            <a:ext cx="320040" cy="0"/>
          </a:xfrm>
          <a:prstGeom prst="line">
            <a:avLst/>
          </a:prstGeom>
          <a:ln w="25400">
            <a:solidFill>
              <a:srgbClr val="2EC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23360" y="4663440"/>
            <a:ext cx="320040" cy="0"/>
          </a:xfrm>
          <a:prstGeom prst="line">
            <a:avLst/>
          </a:prstGeom>
          <a:ln w="25400">
            <a:solidFill>
              <a:srgbClr val="2EC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818120" y="4663440"/>
            <a:ext cx="320040" cy="0"/>
          </a:xfrm>
          <a:prstGeom prst="line">
            <a:avLst/>
          </a:prstGeom>
          <a:ln w="25400">
            <a:solidFill>
              <a:srgbClr val="2EC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58368" y="6510528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800" b="0">
                <a:solidFill>
                  <a:srgbClr val="646C80"/>
                </a:solidFill>
                <a:latin typeface="Arial"/>
              </a:defRPr>
            </a:pPr>
            <a:r>
              <a:t>CivicEye AI  |  YCS 2026  |  Sri Lanka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6576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2600" b="1">
                <a:solidFill>
                  <a:srgbClr val="191F34"/>
                </a:solidFill>
                <a:latin typeface="Arial"/>
              </a:defRPr>
            </a:pPr>
            <a:r>
              <a:t>CivicEye AI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9509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300" b="0">
                <a:solidFill>
                  <a:srgbClr val="646C80"/>
                </a:solidFill>
                <a:latin typeface="Arial"/>
              </a:defRPr>
            </a:pPr>
            <a:r>
              <a:t>How the web application connects citizens, backend services and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64040" y="42976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defRPr sz="900" b="1">
                <a:solidFill>
                  <a:srgbClr val="646C80"/>
                </a:solidFill>
                <a:latin typeface="Arial"/>
              </a:defRPr>
            </a:pPr>
            <a:r>
              <a:t>CIVICEYE AI   |   5/7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25880"/>
            <a:ext cx="1143000" cy="54864"/>
          </a:xfrm>
          <a:prstGeom prst="rect">
            <a:avLst/>
          </a:prstGeom>
          <a:solidFill>
            <a:srgbClr val="5B4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33375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88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600" b="1">
                <a:solidFill>
                  <a:srgbClr val="5B4CDC"/>
                </a:solidFill>
                <a:latin typeface="Arial"/>
              </a:defRPr>
            </a:pPr>
            <a:r>
              <a:t>CITIZEN LAYER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2487168"/>
            <a:ext cx="2697480" cy="347472"/>
          </a:xfrm>
          <a:prstGeom prst="roundRect">
            <a:avLst/>
          </a:prstGeom>
          <a:solidFill>
            <a:srgbClr val="E2DEFF"/>
          </a:solidFill>
          <a:ln w="12700">
            <a:solidFill>
              <a:srgbClr val="E2D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505456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4638B4"/>
                </a:solidFill>
                <a:latin typeface="Arial"/>
              </a:defRPr>
            </a:pPr>
            <a:r>
              <a:t>Report 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990088"/>
            <a:ext cx="2697480" cy="347472"/>
          </a:xfrm>
          <a:prstGeom prst="roundRect">
            <a:avLst/>
          </a:prstGeom>
          <a:solidFill>
            <a:srgbClr val="E2DEFF"/>
          </a:solidFill>
          <a:ln w="12700">
            <a:solidFill>
              <a:srgbClr val="E2D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3008376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4638B4"/>
                </a:solidFill>
                <a:latin typeface="Arial"/>
              </a:defRPr>
            </a:pPr>
            <a:r>
              <a:t>Image Upload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3493008"/>
            <a:ext cx="2697480" cy="347472"/>
          </a:xfrm>
          <a:prstGeom prst="roundRect">
            <a:avLst/>
          </a:prstGeom>
          <a:solidFill>
            <a:srgbClr val="E2DEFF"/>
          </a:solidFill>
          <a:ln w="12700">
            <a:solidFill>
              <a:srgbClr val="E2D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4638B4"/>
                </a:solidFill>
                <a:latin typeface="Arial"/>
              </a:defRPr>
            </a:pPr>
            <a:r>
              <a:t>Location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995928"/>
            <a:ext cx="2697480" cy="347472"/>
          </a:xfrm>
          <a:prstGeom prst="roundRect">
            <a:avLst/>
          </a:prstGeom>
          <a:solidFill>
            <a:srgbClr val="E2DEFF"/>
          </a:solidFill>
          <a:ln w="12700">
            <a:solidFill>
              <a:srgbClr val="E2D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4014215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4638B4"/>
                </a:solidFill>
                <a:latin typeface="Arial"/>
              </a:defRPr>
            </a:pPr>
            <a:r>
              <a:t>Voice Input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" y="4498848"/>
            <a:ext cx="2697480" cy="347472"/>
          </a:xfrm>
          <a:prstGeom prst="roundRect">
            <a:avLst/>
          </a:prstGeom>
          <a:solidFill>
            <a:srgbClr val="E2DEFF"/>
          </a:solidFill>
          <a:ln w="12700">
            <a:solidFill>
              <a:srgbClr val="E2D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4517136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4638B4"/>
                </a:solidFill>
                <a:latin typeface="Arial"/>
              </a:defRPr>
            </a:pPr>
            <a:r>
              <a:t>Report Tracking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5001768"/>
            <a:ext cx="2697480" cy="347472"/>
          </a:xfrm>
          <a:prstGeom prst="roundRect">
            <a:avLst/>
          </a:prstGeom>
          <a:solidFill>
            <a:srgbClr val="E2DEFF"/>
          </a:solidFill>
          <a:ln w="12700">
            <a:solidFill>
              <a:srgbClr val="E2D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5020056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4638B4"/>
                </a:solidFill>
                <a:latin typeface="Arial"/>
              </a:defRPr>
            </a:pPr>
            <a:r>
              <a:t>Notifications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1600200"/>
            <a:ext cx="3246120" cy="4526280"/>
          </a:xfrm>
          <a:prstGeom prst="roundRect">
            <a:avLst/>
          </a:prstGeom>
          <a:solidFill>
            <a:srgbClr val="5B4CDC"/>
          </a:solidFill>
          <a:ln w="12700">
            <a:solidFill>
              <a:srgbClr val="5B4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09160" y="1874519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PROCESSING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0600" y="2423160"/>
            <a:ext cx="2514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00600" y="2432303"/>
            <a:ext cx="2514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900" b="1">
                <a:solidFill>
                  <a:srgbClr val="191F34"/>
                </a:solidFill>
                <a:latin typeface="Arial"/>
              </a:defRPr>
            </a:pPr>
            <a:r>
              <a:t>REST 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00600" y="2880360"/>
            <a:ext cx="2514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00600" y="2889503"/>
            <a:ext cx="2514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900" b="1">
                <a:solidFill>
                  <a:srgbClr val="191F34"/>
                </a:solidFill>
                <a:latin typeface="Arial"/>
              </a:defRPr>
            </a:pPr>
            <a:r>
              <a:t>Node.js / Express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00600" y="3337560"/>
            <a:ext cx="2514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00600" y="3346703"/>
            <a:ext cx="2514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900" b="1">
                <a:solidFill>
                  <a:srgbClr val="191F34"/>
                </a:solidFill>
                <a:latin typeface="Arial"/>
              </a:defRPr>
            </a:pPr>
            <a:r>
              <a:t>Image Handling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00600" y="3794760"/>
            <a:ext cx="2514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00600" y="3803904"/>
            <a:ext cx="2514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900" b="1">
                <a:solidFill>
                  <a:srgbClr val="191F34"/>
                </a:solidFill>
                <a:latin typeface="Arial"/>
              </a:defRPr>
            </a:pPr>
            <a:r>
              <a:t>Rule-Based Analysis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00600" y="4251960"/>
            <a:ext cx="2514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00600" y="4261104"/>
            <a:ext cx="2514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900" b="1">
                <a:solidFill>
                  <a:srgbClr val="191F34"/>
                </a:solidFill>
                <a:latin typeface="Arial"/>
              </a:defRPr>
            </a:pPr>
            <a:r>
              <a:t>Priority Logic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00600" y="4709160"/>
            <a:ext cx="2514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800600" y="4718304"/>
            <a:ext cx="2514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900" b="1">
                <a:solidFill>
                  <a:srgbClr val="191F34"/>
                </a:solidFill>
                <a:latin typeface="Arial"/>
              </a:defRPr>
            </a:pPr>
            <a:r>
              <a:t>Duplicate Check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00600" y="5166360"/>
            <a:ext cx="2514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800600" y="5175504"/>
            <a:ext cx="2514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900" b="1">
                <a:solidFill>
                  <a:srgbClr val="191F34"/>
                </a:solidFill>
                <a:latin typeface="Arial"/>
              </a:defRPr>
            </a:pPr>
            <a:r>
              <a:t>Authority Mapping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1600200"/>
            <a:ext cx="33832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12480" y="1874519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600" b="1">
                <a:solidFill>
                  <a:srgbClr val="39A8FF"/>
                </a:solidFill>
                <a:latin typeface="Arial"/>
              </a:defRPr>
            </a:pPr>
            <a:r>
              <a:t>ADMIN LAYER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58200" y="2487168"/>
            <a:ext cx="2743200" cy="347472"/>
          </a:xfrm>
          <a:prstGeom prst="roundRect">
            <a:avLst/>
          </a:prstGeom>
          <a:solidFill>
            <a:srgbClr val="E0F1FF"/>
          </a:solidFill>
          <a:ln w="12700">
            <a:solidFill>
              <a:srgbClr val="E0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58200" y="250545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39A8FF"/>
                </a:solidFill>
                <a:latin typeface="Arial"/>
              </a:defRPr>
            </a:pPr>
            <a:r>
              <a:t>Admin Dashboard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8200" y="2990088"/>
            <a:ext cx="2743200" cy="347472"/>
          </a:xfrm>
          <a:prstGeom prst="roundRect">
            <a:avLst/>
          </a:prstGeom>
          <a:solidFill>
            <a:srgbClr val="E0F1FF"/>
          </a:solidFill>
          <a:ln w="12700">
            <a:solidFill>
              <a:srgbClr val="E0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458200" y="300837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39A8FF"/>
                </a:solidFill>
                <a:latin typeface="Arial"/>
              </a:defRPr>
            </a:pPr>
            <a:r>
              <a:t>Report Review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58200" y="3493008"/>
            <a:ext cx="2743200" cy="347472"/>
          </a:xfrm>
          <a:prstGeom prst="roundRect">
            <a:avLst/>
          </a:prstGeom>
          <a:solidFill>
            <a:srgbClr val="E0F1FF"/>
          </a:solidFill>
          <a:ln w="12700">
            <a:solidFill>
              <a:srgbClr val="E0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458200" y="351129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39A8FF"/>
                </a:solidFill>
                <a:latin typeface="Arial"/>
              </a:defRPr>
            </a:pPr>
            <a:r>
              <a:t>Status Updates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58200" y="3995928"/>
            <a:ext cx="2743200" cy="347472"/>
          </a:xfrm>
          <a:prstGeom prst="roundRect">
            <a:avLst/>
          </a:prstGeom>
          <a:solidFill>
            <a:srgbClr val="E0F1FF"/>
          </a:solidFill>
          <a:ln w="12700">
            <a:solidFill>
              <a:srgbClr val="E0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58200" y="4014215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39A8FF"/>
                </a:solidFill>
                <a:latin typeface="Arial"/>
              </a:defRPr>
            </a:pPr>
            <a:r>
              <a:t>Notifications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58200" y="4498848"/>
            <a:ext cx="2743200" cy="347472"/>
          </a:xfrm>
          <a:prstGeom prst="roundRect">
            <a:avLst/>
          </a:prstGeom>
          <a:solidFill>
            <a:srgbClr val="E0F1FF"/>
          </a:solidFill>
          <a:ln w="12700">
            <a:solidFill>
              <a:srgbClr val="E0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458200" y="45171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39A8FF"/>
                </a:solidFill>
                <a:latin typeface="Arial"/>
              </a:defRPr>
            </a:pPr>
            <a:r>
              <a:t>Resolution Verification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458200" y="5001768"/>
            <a:ext cx="2743200" cy="347472"/>
          </a:xfrm>
          <a:prstGeom prst="roundRect">
            <a:avLst/>
          </a:prstGeom>
          <a:solidFill>
            <a:srgbClr val="E0F1FF"/>
          </a:solidFill>
          <a:ln w="12700">
            <a:solidFill>
              <a:srgbClr val="E0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458200" y="502005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39A8FF"/>
                </a:solidFill>
                <a:latin typeface="Arial"/>
              </a:defRPr>
            </a:pPr>
            <a:r>
              <a:t>Monitoring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77639" y="3749039"/>
            <a:ext cx="411481" cy="0"/>
          </a:xfrm>
          <a:prstGeom prst="line">
            <a:avLst/>
          </a:prstGeom>
          <a:ln w="25400">
            <a:solidFill>
              <a:srgbClr val="2EC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726679" y="3749039"/>
            <a:ext cx="365761" cy="0"/>
          </a:xfrm>
          <a:prstGeom prst="line">
            <a:avLst/>
          </a:prstGeom>
          <a:ln w="25400">
            <a:solidFill>
              <a:srgbClr val="2EC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58368" y="6510528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800" b="0">
                <a:solidFill>
                  <a:srgbClr val="646C80"/>
                </a:solidFill>
                <a:latin typeface="Arial"/>
              </a:defRPr>
            </a:pPr>
            <a:r>
              <a:t>CivicEye AI  |  YCS 2026  |  Sri Lanka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6576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2600" b="1">
                <a:solidFill>
                  <a:srgbClr val="191F34"/>
                </a:solidFill>
                <a:latin typeface="Arial"/>
              </a:defRPr>
            </a:pPr>
            <a:r>
              <a:t>Technology, Testing and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9509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300" b="0">
                <a:solidFill>
                  <a:srgbClr val="646C80"/>
                </a:solidFill>
                <a:latin typeface="Arial"/>
              </a:defRPr>
            </a:pPr>
            <a:r>
              <a:t>The current prototype and its path toward a larger civic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64040" y="42976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defRPr sz="900" b="1">
                <a:solidFill>
                  <a:srgbClr val="646C80"/>
                </a:solidFill>
                <a:latin typeface="Arial"/>
              </a:defRPr>
            </a:pPr>
            <a:r>
              <a:t>CIVICEYE AI   |   6/7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25880"/>
            <a:ext cx="1143000" cy="54864"/>
          </a:xfrm>
          <a:prstGeom prst="rect">
            <a:avLst/>
          </a:prstGeom>
          <a:solidFill>
            <a:srgbClr val="5B4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35204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700" b="1">
                <a:solidFill>
                  <a:srgbClr val="5B4CDC"/>
                </a:solidFill>
                <a:latin typeface="Arial"/>
              </a:defRPr>
            </a:pPr>
            <a:r>
              <a:t>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87168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900" b="1">
                <a:solidFill>
                  <a:srgbClr val="646C80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48716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950" b="1">
                <a:solidFill>
                  <a:srgbClr val="191F34"/>
                </a:solidFill>
                <a:latin typeface="Arial"/>
              </a:defRPr>
            </a:pPr>
            <a:r>
              <a:t>HTML, CSS, JavaScript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90088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900" b="1">
                <a:solidFill>
                  <a:srgbClr val="646C80"/>
                </a:solidFill>
                <a:latin typeface="Arial"/>
              </a:defRPr>
            </a:pPr>
            <a: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9900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950" b="1">
                <a:solidFill>
                  <a:srgbClr val="191F34"/>
                </a:solidFill>
                <a:latin typeface="Arial"/>
              </a:defRPr>
            </a:pPr>
            <a:r>
              <a:t>Geolocation and Speech APIs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93008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900" b="1">
                <a:solidFill>
                  <a:srgbClr val="646C80"/>
                </a:solidFill>
                <a:latin typeface="Arial"/>
              </a:defRPr>
            </a:pPr>
            <a: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49300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950" b="1">
                <a:solidFill>
                  <a:srgbClr val="191F34"/>
                </a:solidFill>
                <a:latin typeface="Arial"/>
              </a:defRPr>
            </a:pPr>
            <a:r>
              <a:t>Node.js and Express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900" b="1">
                <a:solidFill>
                  <a:srgbClr val="646C80"/>
                </a:solidFill>
                <a:latin typeface="Arial"/>
              </a:defRPr>
            </a:pPr>
            <a:r>
              <a:t>Upload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99592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950" b="1">
                <a:solidFill>
                  <a:srgbClr val="191F34"/>
                </a:solidFill>
                <a:latin typeface="Arial"/>
              </a:defRPr>
            </a:pPr>
            <a:r>
              <a:t>Multer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900" b="1">
                <a:solidFill>
                  <a:srgbClr val="646C80"/>
                </a:solidFill>
                <a:latin typeface="Arial"/>
              </a:defRPr>
            </a:pPr>
            <a:r>
              <a:t>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49884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950" b="1">
                <a:solidFill>
                  <a:srgbClr val="191F34"/>
                </a:solidFill>
                <a:latin typeface="Arial"/>
              </a:defRPr>
            </a:pPr>
            <a:r>
              <a:t>REST API and CORS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01768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900" b="1">
                <a:solidFill>
                  <a:srgbClr val="646C80"/>
                </a:solidFill>
                <a:latin typeface="Arial"/>
              </a:defRPr>
            </a:pPr>
            <a:r>
              <a:t>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00176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950" b="1">
                <a:solidFill>
                  <a:srgbClr val="191F34"/>
                </a:solidFill>
                <a:latin typeface="Arial"/>
              </a:defRPr>
            </a:pPr>
            <a:r>
              <a:t>Vercel and Railway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1600200"/>
            <a:ext cx="35204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17720" y="1874519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700" b="1">
                <a:solidFill>
                  <a:srgbClr val="24B478"/>
                </a:solidFill>
                <a:latin typeface="Arial"/>
              </a:defRPr>
            </a:pPr>
            <a:r>
              <a:t>TESTED WORKFLOWS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2450592"/>
            <a:ext cx="256032" cy="256032"/>
          </a:xfrm>
          <a:prstGeom prst="roundRect">
            <a:avLst/>
          </a:prstGeom>
          <a:solidFill>
            <a:srgbClr val="24B478"/>
          </a:solidFill>
          <a:ln w="12700">
            <a:solidFill>
              <a:srgbClr val="24B4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17720" y="2459736"/>
            <a:ext cx="25603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65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2432304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191F34"/>
                </a:solidFill>
                <a:latin typeface="Arial"/>
              </a:defRPr>
            </a:pPr>
            <a:r>
              <a:t>Report submission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2843784"/>
            <a:ext cx="256032" cy="256032"/>
          </a:xfrm>
          <a:prstGeom prst="roundRect">
            <a:avLst/>
          </a:prstGeom>
          <a:solidFill>
            <a:srgbClr val="24B478"/>
          </a:solidFill>
          <a:ln w="12700">
            <a:solidFill>
              <a:srgbClr val="24B4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17720" y="2852928"/>
            <a:ext cx="25603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65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2825496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191F34"/>
                </a:solidFill>
                <a:latin typeface="Arial"/>
              </a:defRPr>
            </a:pPr>
            <a:r>
              <a:t>Image upload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236976"/>
            <a:ext cx="256032" cy="256032"/>
          </a:xfrm>
          <a:prstGeom prst="roundRect">
            <a:avLst/>
          </a:prstGeom>
          <a:solidFill>
            <a:srgbClr val="24B478"/>
          </a:solidFill>
          <a:ln w="12700">
            <a:solidFill>
              <a:srgbClr val="24B4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17720" y="3246120"/>
            <a:ext cx="25603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65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3218688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191F34"/>
                </a:solidFill>
                <a:latin typeface="Arial"/>
              </a:defRPr>
            </a:pPr>
            <a:r>
              <a:t>Issue analysis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17720" y="3630168"/>
            <a:ext cx="256032" cy="256032"/>
          </a:xfrm>
          <a:prstGeom prst="roundRect">
            <a:avLst/>
          </a:prstGeom>
          <a:solidFill>
            <a:srgbClr val="24B478"/>
          </a:solidFill>
          <a:ln w="12700">
            <a:solidFill>
              <a:srgbClr val="24B4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17720" y="3639312"/>
            <a:ext cx="25603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65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361188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191F34"/>
                </a:solidFill>
                <a:latin typeface="Arial"/>
              </a:defRPr>
            </a:pPr>
            <a:r>
              <a:t>Duplicate detection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17720" y="4023360"/>
            <a:ext cx="256032" cy="256032"/>
          </a:xfrm>
          <a:prstGeom prst="roundRect">
            <a:avLst/>
          </a:prstGeom>
          <a:solidFill>
            <a:srgbClr val="24B478"/>
          </a:solidFill>
          <a:ln w="12700">
            <a:solidFill>
              <a:srgbClr val="24B4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617720" y="4032504"/>
            <a:ext cx="25603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65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40050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191F34"/>
                </a:solidFill>
                <a:latin typeface="Arial"/>
              </a:defRPr>
            </a:pPr>
            <a:r>
              <a:t>Admin workflow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17720" y="4416552"/>
            <a:ext cx="256032" cy="256032"/>
          </a:xfrm>
          <a:prstGeom prst="roundRect">
            <a:avLst/>
          </a:prstGeom>
          <a:solidFill>
            <a:srgbClr val="24B478"/>
          </a:solidFill>
          <a:ln w="12700">
            <a:solidFill>
              <a:srgbClr val="24B4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617720" y="4425696"/>
            <a:ext cx="25603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65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0" y="4398264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191F34"/>
                </a:solidFill>
                <a:latin typeface="Arial"/>
              </a:defRPr>
            </a:pPr>
            <a:r>
              <a:t>Status updates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17720" y="4809744"/>
            <a:ext cx="256032" cy="256032"/>
          </a:xfrm>
          <a:prstGeom prst="roundRect">
            <a:avLst/>
          </a:prstGeom>
          <a:solidFill>
            <a:srgbClr val="24B478"/>
          </a:solidFill>
          <a:ln w="12700">
            <a:solidFill>
              <a:srgbClr val="24B4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617720" y="4818888"/>
            <a:ext cx="25603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65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0" y="4791456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191F34"/>
                </a:solidFill>
                <a:latin typeface="Arial"/>
              </a:defRPr>
            </a:pPr>
            <a:r>
              <a:t>Citizen notifications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17720" y="5202936"/>
            <a:ext cx="256032" cy="256032"/>
          </a:xfrm>
          <a:prstGeom prst="roundRect">
            <a:avLst/>
          </a:prstGeom>
          <a:solidFill>
            <a:srgbClr val="24B478"/>
          </a:solidFill>
          <a:ln w="12700">
            <a:solidFill>
              <a:srgbClr val="24B4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617720" y="5212079"/>
            <a:ext cx="25603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65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0" y="5184648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191F34"/>
                </a:solidFill>
                <a:latin typeface="Arial"/>
              </a:defRPr>
            </a:pPr>
            <a:r>
              <a:t>Backend connection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46720" y="1600200"/>
            <a:ext cx="35204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1874519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700" b="1">
                <a:solidFill>
                  <a:srgbClr val="39A8FF"/>
                </a:solidFill>
                <a:latin typeface="Arial"/>
              </a:defRPr>
            </a:pPr>
            <a:r>
              <a:t>FUTURE SCOPE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21040" y="2450592"/>
            <a:ext cx="256032" cy="256032"/>
          </a:xfrm>
          <a:prstGeom prst="roundRect">
            <a:avLst/>
          </a:prstGeom>
          <a:solidFill>
            <a:srgbClr val="39A8FF"/>
          </a:solidFill>
          <a:ln w="12700">
            <a:solidFill>
              <a:srgbClr val="39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321040" y="2441448"/>
            <a:ext cx="25603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32520" y="2432304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191F34"/>
                </a:solidFill>
                <a:latin typeface="Arial"/>
              </a:defRPr>
            </a:pPr>
            <a:r>
              <a:t>Trained ML models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21040" y="2843784"/>
            <a:ext cx="256032" cy="256032"/>
          </a:xfrm>
          <a:prstGeom prst="roundRect">
            <a:avLst/>
          </a:prstGeom>
          <a:solidFill>
            <a:srgbClr val="39A8FF"/>
          </a:solidFill>
          <a:ln w="12700">
            <a:solidFill>
              <a:srgbClr val="39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321040" y="2834640"/>
            <a:ext cx="25603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2825496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191F34"/>
                </a:solidFill>
                <a:latin typeface="Arial"/>
              </a:defRPr>
            </a:pPr>
            <a:r>
              <a:t>Computer vision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21040" y="3236976"/>
            <a:ext cx="256032" cy="256032"/>
          </a:xfrm>
          <a:prstGeom prst="roundRect">
            <a:avLst/>
          </a:prstGeom>
          <a:solidFill>
            <a:srgbClr val="39A8FF"/>
          </a:solidFill>
          <a:ln w="12700">
            <a:solidFill>
              <a:srgbClr val="39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321040" y="3227832"/>
            <a:ext cx="25603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32520" y="3218688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191F34"/>
                </a:solidFill>
                <a:latin typeface="Arial"/>
              </a:defRPr>
            </a:pPr>
            <a:r>
              <a:t>Cloud database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21040" y="3630168"/>
            <a:ext cx="256032" cy="256032"/>
          </a:xfrm>
          <a:prstGeom prst="roundRect">
            <a:avLst/>
          </a:prstGeom>
          <a:solidFill>
            <a:srgbClr val="39A8FF"/>
          </a:solidFill>
          <a:ln w="12700">
            <a:solidFill>
              <a:srgbClr val="39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321040" y="3621024"/>
            <a:ext cx="25603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32520" y="361188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191F34"/>
                </a:solidFill>
                <a:latin typeface="Arial"/>
              </a:defRPr>
            </a:pPr>
            <a:r>
              <a:t>Advanced GIS mapping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321040" y="4023360"/>
            <a:ext cx="256032" cy="256032"/>
          </a:xfrm>
          <a:prstGeom prst="roundRect">
            <a:avLst/>
          </a:prstGeom>
          <a:solidFill>
            <a:srgbClr val="39A8FF"/>
          </a:solidFill>
          <a:ln w="12700">
            <a:solidFill>
              <a:srgbClr val="39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321040" y="4014216"/>
            <a:ext cx="25603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32520" y="40050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191F34"/>
                </a:solidFill>
                <a:latin typeface="Arial"/>
              </a:defRPr>
            </a:pPr>
            <a:r>
              <a:t>Authority integration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321040" y="4416552"/>
            <a:ext cx="256032" cy="256032"/>
          </a:xfrm>
          <a:prstGeom prst="roundRect">
            <a:avLst/>
          </a:prstGeom>
          <a:solidFill>
            <a:srgbClr val="39A8FF"/>
          </a:solidFill>
          <a:ln w="12700">
            <a:solidFill>
              <a:srgbClr val="39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321040" y="4407408"/>
            <a:ext cx="25603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32520" y="4398264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191F34"/>
                </a:solidFill>
                <a:latin typeface="Arial"/>
              </a:defRPr>
            </a:pPr>
            <a:r>
              <a:t>Secure authentication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321040" y="4809744"/>
            <a:ext cx="256032" cy="256032"/>
          </a:xfrm>
          <a:prstGeom prst="roundRect">
            <a:avLst/>
          </a:prstGeom>
          <a:solidFill>
            <a:srgbClr val="39A8FF"/>
          </a:solidFill>
          <a:ln w="12700">
            <a:solidFill>
              <a:srgbClr val="39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321040" y="4800600"/>
            <a:ext cx="25603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32520" y="4791456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191F34"/>
                </a:solidFill>
                <a:latin typeface="Arial"/>
              </a:defRPr>
            </a:pPr>
            <a:r>
              <a:t>Advanced analytics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321040" y="5202936"/>
            <a:ext cx="256032" cy="256032"/>
          </a:xfrm>
          <a:prstGeom prst="roundRect">
            <a:avLst/>
          </a:prstGeom>
          <a:solidFill>
            <a:srgbClr val="39A8FF"/>
          </a:solidFill>
          <a:ln w="12700">
            <a:solidFill>
              <a:srgbClr val="39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321040" y="5193792"/>
            <a:ext cx="25603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32520" y="5184648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050" b="0">
                <a:solidFill>
                  <a:srgbClr val="191F34"/>
                </a:solidFill>
                <a:latin typeface="Arial"/>
              </a:defRPr>
            </a:pPr>
            <a:r>
              <a:t>Mobile application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8368" y="6510528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800" b="0">
                <a:solidFill>
                  <a:srgbClr val="646C80"/>
                </a:solidFill>
                <a:latin typeface="Arial"/>
              </a:defRPr>
            </a:pPr>
            <a:r>
              <a:t>CivicEye AI  |  YCS 2026  |  Sri Lanka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595360" y="-1005840"/>
            <a:ext cx="4297680" cy="4297680"/>
          </a:xfrm>
          <a:prstGeom prst="ellipse">
            <a:avLst/>
          </a:prstGeom>
          <a:solidFill>
            <a:srgbClr val="E2D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914400" y="4846320"/>
            <a:ext cx="3200400" cy="3200400"/>
          </a:xfrm>
          <a:prstGeom prst="ellipse">
            <a:avLst/>
          </a:prstGeom>
          <a:solidFill>
            <a:srgbClr val="E0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3400" b="1">
                <a:solidFill>
                  <a:srgbClr val="191F34"/>
                </a:solidFill>
                <a:latin typeface="Arial"/>
              </a:defRPr>
            </a:pPr>
            <a:r>
              <a:t>CIVICEYE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983480" y="1600200"/>
            <a:ext cx="2194560" cy="54864"/>
          </a:xfrm>
          <a:prstGeom prst="rect">
            <a:avLst/>
          </a:prstGeom>
          <a:solidFill>
            <a:srgbClr val="5B4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63040" y="2057400"/>
            <a:ext cx="923544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2800" b="1">
                <a:solidFill>
                  <a:srgbClr val="191F34"/>
                </a:solidFill>
                <a:latin typeface="Arial"/>
              </a:defRPr>
            </a:pPr>
            <a:r>
              <a:t>Smarter civic issue reporting</a:t>
            </a:r>
            <a:br/>
            <a:r>
              <a:t>through AI-assisted technology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3794760"/>
            <a:ext cx="17830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3968496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191F34"/>
                </a:solidFill>
                <a:latin typeface="Arial"/>
              </a:defRPr>
            </a:pPr>
            <a:r>
              <a:t>REPORT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4114800"/>
            <a:ext cx="320039" cy="0"/>
          </a:xfrm>
          <a:prstGeom prst="line">
            <a:avLst/>
          </a:prstGeom>
          <a:ln w="25400">
            <a:solidFill>
              <a:srgbClr val="5B4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136391" y="3794760"/>
            <a:ext cx="17830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36391" y="3968496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191F34"/>
                </a:solidFill>
                <a:latin typeface="Arial"/>
              </a:defRPr>
            </a:pPr>
            <a:r>
              <a:t>ANALYSE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919472" y="4114800"/>
            <a:ext cx="320040" cy="0"/>
          </a:xfrm>
          <a:prstGeom prst="line">
            <a:avLst/>
          </a:prstGeom>
          <a:ln w="25400">
            <a:solidFill>
              <a:srgbClr val="5B4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312664" y="3794760"/>
            <a:ext cx="17830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12664" y="3968496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191F34"/>
                </a:solidFill>
                <a:latin typeface="Arial"/>
              </a:defRPr>
            </a:pPr>
            <a:r>
              <a:t>PRIORITISE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95744" y="4114800"/>
            <a:ext cx="320039" cy="0"/>
          </a:xfrm>
          <a:prstGeom prst="line">
            <a:avLst/>
          </a:prstGeom>
          <a:ln w="25400">
            <a:solidFill>
              <a:srgbClr val="5B4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88936" y="3794760"/>
            <a:ext cx="17830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88936" y="3968496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191F34"/>
                </a:solidFill>
                <a:latin typeface="Arial"/>
              </a:defRPr>
            </a:pPr>
            <a:r>
              <a:t>CONNECT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72015" y="4114800"/>
            <a:ext cx="320040" cy="0"/>
          </a:xfrm>
          <a:prstGeom prst="line">
            <a:avLst/>
          </a:prstGeom>
          <a:ln w="25400">
            <a:solidFill>
              <a:srgbClr val="5B4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665208" y="3794760"/>
            <a:ext cx="17830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65208" y="3968496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00" b="1">
                <a:solidFill>
                  <a:srgbClr val="191F34"/>
                </a:solidFill>
                <a:latin typeface="Arial"/>
              </a:defRPr>
            </a:pPr>
            <a:r>
              <a:t>MONITOR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800600"/>
            <a:ext cx="9738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400" b="0">
                <a:solidFill>
                  <a:srgbClr val="646C80"/>
                </a:solidFill>
                <a:latin typeface="Arial"/>
              </a:defRPr>
            </a:pPr>
            <a:r>
              <a:t>A working prototype designed to make civic issue reporting more structured, visible and manageable.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48640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500" b="1">
                <a:solidFill>
                  <a:srgbClr val="191F34"/>
                </a:solidFill>
                <a:latin typeface="Arial"/>
              </a:defRPr>
            </a:pPr>
            <a:r>
              <a:t>Young Computer Scientist Competition (YCS)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25312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200" b="1">
                <a:solidFill>
                  <a:srgbClr val="5B4CDC"/>
                </a:solidFill>
                <a:latin typeface="Arial"/>
              </a:defRPr>
            </a:pPr>
            <a:r>
              <a:t>AI-Powered Web Application  |  Sri Lanka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543</Words>
  <Application>Microsoft Office PowerPoint</Application>
  <PresentationFormat>Widescreen</PresentationFormat>
  <Paragraphs>162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HI</cp:lastModifiedBy>
  <cp:revision>2</cp:revision>
  <dcterms:created xsi:type="dcterms:W3CDTF">2013-01-27T09:14:16Z</dcterms:created>
  <dcterms:modified xsi:type="dcterms:W3CDTF">2026-09-20T02:34:28Z</dcterms:modified>
  <cp:category/>
</cp:coreProperties>
</file>